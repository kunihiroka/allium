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039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2222"/>
                </a:solidFill>
                <a:latin typeface="Meiryo"/>
              </a:defRPr>
            </a:pPr>
            <a:r>
              <a:t>誘導電動機 回路定数測定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6BA6"/>
                </a:solidFill>
                <a:latin typeface="Meiryo"/>
              </a:defRPr>
            </a:pPr>
            <a:r>
              <a:t>プロジェクト計画書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555555"/>
                </a:solidFill>
                <a:latin typeface="Meiryo"/>
              </a:defRPr>
            </a:pPr>
            <a:r>
              <a:t>8極 150kW 400V  EV/HEV駆動用 かご形三相誘導電動機</a:t>
            </a:r>
          </a:p>
          <a:p>
            <a:pPr>
              <a:spcAft>
                <a:spcPts val="200"/>
              </a:spcAft>
              <a:defRPr sz="1900" b="0">
                <a:solidFill>
                  <a:srgbClr val="555555"/>
                </a:solidFill>
                <a:latin typeface="Meiryo"/>
              </a:defRPr>
            </a:pPr>
            <a:r>
              <a:t>すべり周波数型ベクトル制御用  飽和考慮パラメータ同定</a:t>
            </a:r>
          </a:p>
          <a:p>
            <a:pPr>
              <a:spcAft>
                <a:spcPts val="200"/>
              </a:spcAft>
              <a:defRPr sz="1900" b="0">
                <a:solidFill>
                  <a:srgbClr val="555555"/>
                </a:solidFill>
                <a:latin typeface="Meiryo"/>
              </a:defRPr>
            </a:pPr>
            <a:r>
              <a:t>トルクメータ・エンコーダ活用  ハイブリッド同定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Meiryo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Meiryo"/>
              </a:defRPr>
            </a:pPr>
            <a: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20040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プロジェクト概要 — ハイブリッド同定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53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対象モータ仕様・等価回路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007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A: DC抵抗試験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48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B: 機械損特性試験（直接測定）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95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C: 同期速度試験 s=0 — 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C: 同期速度試験 — 試験条件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906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90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D: 拘束試験（トルク・クロスチェック）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38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381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E: 負荷試験（V/f制御・多運転点）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856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856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配分比 k の同定 — トルク式による証明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3308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3308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トルク式: 簡易形 vs 厳密形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0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Phase F: グローバルパラメータ同定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280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2803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飽和参照電流の決定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755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7550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ロータバー表皮効果の原理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229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5229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周波数依存性と制御用テーブル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70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A6"/>
                </a:solidFill>
                <a:latin typeface="Meiryo"/>
              </a:defRPr>
            </a:pPr>
            <a: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870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Meiryo"/>
              </a:defRPr>
            </a:pPr>
            <a:r>
              <a:t>設備・スケジュール / リスク・成果物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プロジェクト概要 — ハイブリッド同定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BA6"/>
                </a:solidFill>
                <a:latin typeface="Meiryo"/>
              </a:defRPr>
            </a:pPr>
            <a:r>
              <a:t>従来法 vs 本計画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972800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126480"/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従来法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本計画（ハイブリッド法）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機械損分離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周波数分離法（間接的）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トルクメータで直接測定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無負荷試験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s ≈ 0 と仮定（モータ自由回転）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ダイナモで s = 0 を強制（同期速度試験）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鉄損分離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P₀ − 3R₁I₀² − P_mech(推定)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P₀ − 3R₁I₀²（P_mech 不要）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配分比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設計データ or 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負荷試験データで最適化同定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パラメータ同定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各試験個別解析 → 反復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全データ一括最適化（グローバル同定）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検証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シミュレーション比較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負荷試験の実測トルク・電流と直接比較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6B08"/>
                </a:solidFill>
                <a:latin typeface="Meiryo"/>
              </a:defRPr>
            </a:pPr>
            <a:r>
              <a:t>技術的要件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17720"/>
            <a:ext cx="10972800" cy="310896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3600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3600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Xm = X₀−X₁ で厳密導出（X₁ を無視しない）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65192"/>
            <a:ext cx="10972800" cy="310896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83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834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拘束試験で励磁枝の微小電流を補正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12664"/>
            <a:ext cx="10972800" cy="310896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3095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30951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負荷試験 + グローバル最適化で配分比 k を同定（設計データ不要）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60136"/>
            <a:ext cx="10972800" cy="310896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7842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78423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飽和参照電流: Lm→Im(≈id), L₁→|I₁|, L₂'→(iq, fs)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07608"/>
            <a:ext cx="10972800" cy="310896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0258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025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トルク・速度の直接測定を最大限活用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対象モータ仕様・等価回路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411480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仕様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定格出力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150 kW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定格電圧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AC 400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極数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8極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定格回転数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6,000 r/min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ベース周波数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 Hz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最高回転数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18,000 r/min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最大周波数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1,200 Hz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T形等価回路 — 測定パラメータ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0" y="1463040"/>
          <a:ext cx="52120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645920"/>
                <a:gridCol w="16459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記号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パラメータ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測定方法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制御用LUT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一次巻線抵抗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DC抵抗試験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R₁(θ)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R₂'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二次抵抗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拘束試験+補正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R₂'(fs,θ) 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一次漏れL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グローバル同定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L₁(|I₁|) 1D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L₂'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二次漏れL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グローバル同定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L₂'(iq,fs) 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励磁L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同期速度試験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Lm(id) 1D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鉄損等価R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同期速度試験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Rm(f₁)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電磁トルク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480560"/>
            <a:ext cx="6400800" cy="10972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0"/>
            <a:ext cx="1350335" cy="365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029200"/>
            <a:ext cx="288036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A: DC抵抗試験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06BA6"/>
                </a:solidFill>
                <a:latin typeface="Meiryo"/>
              </a:rPr>
              <a:t>●  </a:t>
            </a:r>
            <a:r>
              <a:rPr sz="1600">
                <a:solidFill>
                  <a:srgbClr val="222222"/>
                </a:solidFill>
                <a:latin typeface="Meiryo"/>
              </a:rPr>
              <a:t>十分冷却後、巻線温度 θ₀ を記録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6BA6"/>
                </a:solidFill>
                <a:latin typeface="Meiryo"/>
              </a:rPr>
              <a:t>●  </a:t>
            </a:r>
            <a:r>
              <a:rPr sz="1600">
                <a:solidFill>
                  <a:srgbClr val="222222"/>
                </a:solidFill>
                <a:latin typeface="Meiryo"/>
              </a:rPr>
              <a:t>四端子法で線間抵抗を測定  R_UV, R_VW, R_WU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6BA6"/>
                </a:solidFill>
                <a:latin typeface="Meiryo"/>
              </a:rPr>
              <a:t>●  </a:t>
            </a:r>
            <a:r>
              <a:rPr sz="1600">
                <a:solidFill>
                  <a:srgbClr val="222222"/>
                </a:solidFill>
                <a:latin typeface="Meiryo"/>
              </a:rPr>
              <a:t>相抵抗を算出（Y結線）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6BA6"/>
                </a:solidFill>
                <a:latin typeface="Meiryo"/>
              </a:rPr>
              <a:t>●  </a:t>
            </a:r>
            <a:r>
              <a:rPr sz="1600">
                <a:solidFill>
                  <a:srgbClr val="222222"/>
                </a:solidFill>
                <a:latin typeface="Meiryo"/>
              </a:rPr>
              <a:t>基準温度への換算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914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A6"/>
                </a:solidFill>
                <a:latin typeface="Meiryo"/>
              </a:defRPr>
            </a:pPr>
            <a:r>
              <a:t>Y結線 相抵抗: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878960" cy="411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286000"/>
            <a:ext cx="5303520" cy="914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A6"/>
                </a:solidFill>
                <a:latin typeface="Meiryo"/>
              </a:defRPr>
            </a:pPr>
            <a:r>
              <a:t>温度換算: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2359469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6B08"/>
                </a:solidFill>
                <a:latin typeface="Meiryo"/>
              </a:defRPr>
            </a:pPr>
            <a:r>
              <a:t>品質基準: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D46B08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三相不平衡率 2%以内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46B08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測定電流は定格の 10%以下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B: 機械損特性試験（直接測定）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6B08"/>
                </a:solidFill>
                <a:latin typeface="Meiryo"/>
              </a:defRPr>
            </a:pPr>
            <a:r>
              <a:t>従来法: 複数周波数の無負荷試験から間接推定 → 本計画: トルクメータで直接測定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7F46"/>
                </a:solidFill>
                <a:latin typeface="Meiryo"/>
              </a:defRPr>
            </a:pPr>
            <a:r>
              <a:t>手順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B7F46"/>
                </a:solidFill>
                <a:latin typeface="Meiryo"/>
              </a:rPr>
              <a:t>●  </a:t>
            </a:r>
            <a:r>
              <a:rPr sz="1500">
                <a:solidFill>
                  <a:srgbClr val="222222"/>
                </a:solidFill>
                <a:latin typeface="Meiryo"/>
              </a:rPr>
              <a:t>ステータ端子を開放（電気的に非接続）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B7F46"/>
                </a:solidFill>
                <a:latin typeface="Meiryo"/>
              </a:rPr>
              <a:t>●  </a:t>
            </a:r>
            <a:r>
              <a:rPr sz="1500">
                <a:solidFill>
                  <a:srgbClr val="222222"/>
                </a:solidFill>
                <a:latin typeface="Meiryo"/>
              </a:rPr>
              <a:t>ダイナモメータでロータを所定速度で駆動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B7F46"/>
                </a:solidFill>
                <a:latin typeface="Meiryo"/>
              </a:rPr>
              <a:t>●  </a:t>
            </a:r>
            <a:r>
              <a:rPr sz="1500">
                <a:solidFill>
                  <a:srgbClr val="222222"/>
                </a:solidFill>
                <a:latin typeface="Meiryo"/>
              </a:rPr>
              <a:t>トルクメータで摩擦トルク T_friction を読取り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B7F46"/>
                </a:solidFill>
                <a:latin typeface="Meiryo"/>
              </a:rPr>
              <a:t>●  </a:t>
            </a:r>
            <a:r>
              <a:rPr sz="1500">
                <a:solidFill>
                  <a:srgbClr val="222222"/>
                </a:solidFill>
                <a:latin typeface="Meiryo"/>
              </a:rPr>
              <a:t>複数速度で測定しテーブル化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なぜステータ開放か？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電流ゼロ → 磁界なし → 電磁的相互作用なし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トルクメータの読み = 純粋な機械損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（軸受摩擦 + 風損のみ）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1371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F46"/>
                </a:solidFill>
                <a:latin typeface="Meiryo"/>
              </a:defRPr>
            </a:pPr>
            <a:r>
              <a:t>算出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8840"/>
            <a:ext cx="3316022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7F46"/>
                </a:solidFill>
                <a:latin typeface="Meiryo"/>
              </a:defRPr>
            </a:pPr>
            <a:r>
              <a:t>電気的測定を一切介さないため精度が非常に高い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17920" y="329184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回転数 [r/min]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T_friction [Nm]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P_mech [W]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C: 同期速度試験 s = 0 — 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6B08"/>
                </a:solidFill>
                <a:latin typeface="Meiryo"/>
              </a:defRPr>
            </a:pPr>
            <a:r>
              <a:t>ダイナモで同期速度に保持 → 二次電流ゼロ → 電気入力 = 銅損 + 鉄損のみ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なぜ s = 0 で P_mech が不要か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ロータが同期速度 → ステータ磁界との相対運動ゼロ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ロータ EMF = 0 → ロータ電流 = 0（二次枝完全開放）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電磁トルク T_em = 0（モータは力を出さない）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ダイナモが摩擦を負担（トルクメータで確認可）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電気入力は銅損 + 鉄損のみに消費される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5303520" cy="914400"/>
          </a:xfrm>
          <a:prstGeom prst="roundRect">
            <a:avLst/>
          </a:prstGeom>
          <a:solidFill>
            <a:srgbClr val="FDF0E2"/>
          </a:solidFill>
          <a:ln w="2540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2583712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983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P_mech の推定誤差が鉄損に影響しない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Xm 導出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303520" cy="34747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6B08"/>
                </a:solidFill>
                <a:latin typeface="Meiryo"/>
              </a:defRPr>
            </a:pPr>
            <a:r>
              <a:t>Step 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727952" cy="3657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514600"/>
            <a:ext cx="639156" cy="3657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926080"/>
            <a:ext cx="1254846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3337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6B08"/>
                </a:solidFill>
                <a:latin typeface="Meiryo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337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eiryo"/>
              </a:defRPr>
            </a:pPr>
            <a:r>
              <a:t>s = 0 → 二次枝開放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566160"/>
            <a:ext cx="1355598" cy="2743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17920" y="4023360"/>
            <a:ext cx="5303520" cy="1097280"/>
          </a:xfrm>
          <a:prstGeom prst="roundRect">
            <a:avLst/>
          </a:prstGeom>
          <a:solidFill>
            <a:srgbClr val="FDF0E2"/>
          </a:solidFill>
          <a:ln w="2540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114800"/>
            <a:ext cx="2099758" cy="4114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617720"/>
            <a:ext cx="1035611" cy="3657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5486400"/>
            <a:ext cx="11247120" cy="4572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★ X₁ は Phase D（拘束試験）初期値 → Phase F（グローバル同定）で最終決定。X₁=0 とする簡易法は用いない。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C: 同期速度試験 — 試験条件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飽和特性取得（ベース周波数 400 Hz で電圧スイープ）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0292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371600"/>
                <a:gridCol w="109728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f₁ [Hz]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n_s [r/min]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V_LL 範囲 [V]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ステップ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点数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 ~ 440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 V 刻み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0574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定格 400V の 10%~110% をカバー。440V は過励磁での飽和挙動確認用。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周波数依存性取得（多周波数で電圧スイープ → Rm(f₁)）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697480"/>
          <a:ext cx="5029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371600"/>
                <a:gridCol w="1097280"/>
                <a:gridCol w="64008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f₁ [Hz]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n_s [r/min]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V_LL 範囲 [V]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ステップ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点数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 ~ 110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 V 刻み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 ~ 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 V 刻み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100 ~ 400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100 V 刻み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100 ~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100 V 刻み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  <a:latin typeface="Meiryo"/>
              </a:defRPr>
            </a:pPr>
            <a:r>
              <a:t>合計: 約 31 測定点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弱め界磁域は V = 400V 上限で低磁束密度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Rm 導出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371600"/>
            <a:ext cx="50292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2042779" cy="41148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11680"/>
            <a:ext cx="1045654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← 鉄損等価抵抗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6B08"/>
                </a:solidFill>
                <a:latin typeface="Meiryo"/>
              </a:defRPr>
            </a:pPr>
            <a:r>
              <a:t>Lm 飽和特性 — 暫定値（k 依存）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520440"/>
            <a:ext cx="5029200" cy="1371600"/>
          </a:xfrm>
          <a:prstGeom prst="roundRect">
            <a:avLst/>
          </a:prstGeom>
          <a:solidFill>
            <a:srgbClr val="FDF0E2"/>
          </a:solidFill>
          <a:ln w="2540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611880"/>
            <a:ext cx="2223575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0" y="4160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6B08"/>
                </a:solidFill>
                <a:latin typeface="Meiryo"/>
              </a:defRPr>
            </a:pPr>
            <a:r>
              <a:t>Lm(Im) は k に依存する従属変数</a:t>
            </a:r>
            <a:br/>
            <a:r>
              <a:t>→ Phase F で k 確定後に生データから再構築</a:t>
            </a:r>
            <a:br/>
            <a:r>
              <a:t>→ 初期解析は k=0.5 で暫定計算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47120" cy="16459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7F46"/>
                </a:solidFill>
                <a:latin typeface="Meiryo"/>
              </a:defRPr>
            </a:pPr>
            <a:r>
              <a:t>制御・機器設定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インバータ: V/f 制御で各周波数の電圧を設定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ダイナモ: 速度制御モードで同期速度 ns = 120f₁/p を維持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エンコーダで nr = ns を確認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7F46"/>
                </a:solidFill>
                <a:latin typeface="Meiryo"/>
              </a:defRPr>
            </a:pPr>
            <a:r>
              <a:t>測定項目（各電圧点で記録）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834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V₀ (線間電圧 rms, FFT基本波)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I₀ (線電流 rms, FFT基本波)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P₀ (三相電力, FFT基本波)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T_shaft (トルクメータ), nr (エンコーダ)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D: 拘束試験（トルクでクロスチェック）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試験マトリクス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周波数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5, 10 Hz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定格すべり周波数（主データ）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50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表皮効果の推移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100, 200 Hz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弱め界磁域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ベース周波数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B08"/>
                </a:solidFill>
                <a:latin typeface="Meiryo"/>
              </a:defRPr>
            </a:pPr>
            <a:r>
              <a:t>各周波数 × 電流 25/50/75/100/125% 定格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標準解析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2716839" cy="365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1176854" cy="27432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31720"/>
            <a:ext cx="989437" cy="228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3200400"/>
            <a:ext cx="5303520" cy="2011680"/>
          </a:xfrm>
          <a:prstGeom prst="roundRect">
            <a:avLst/>
          </a:prstGeom>
          <a:solidFill>
            <a:srgbClr val="FDF0E2"/>
          </a:solidFill>
          <a:ln w="25400">
            <a:solidFill>
              <a:srgbClr val="1B7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F46"/>
                </a:solidFill>
                <a:latin typeface="Meiryo"/>
              </a:defRPr>
            </a:pPr>
            <a:r>
              <a:t>トルクによるクロスチェック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拘束状態: ωr = 0 → T_shaft = T_em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40480"/>
            <a:ext cx="2657874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eiryo"/>
              </a:defRPr>
            </a:pPr>
            <a:r>
              <a:t>→ T_shaft = T_em,calc を確認</a:t>
            </a:r>
            <a:br/>
            <a:r>
              <a:t>   不一致 → 計測系エラーを調査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6B08"/>
                </a:solidFill>
                <a:latin typeface="Meiryo"/>
              </a:defRPr>
            </a:pPr>
            <a:r>
              <a:t>注意事項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D46B08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全入力 = 損失 → 1点30秒以内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D46B08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巻線温度を毎回記録 → R₁補正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D46B08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出力リアクトル + FFT基本波解析で対応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E: 負荷試験（V/f制御・多運転点）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D8E"/>
                </a:solidFill>
                <a:latin typeface="Meiryo"/>
              </a:defRPr>
            </a:pPr>
            <a:r>
              <a:t>トルクメータ・エンコーダがあるからこそ可能な試験。グローバル同定の核心データ。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  <a:latin typeface="Meiryo"/>
              </a:defRPr>
            </a:pPr>
            <a:r>
              <a:t>制御方式: V/f 制御（開ループ）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2286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00">
                <a:solidFill>
                  <a:srgbClr val="7B2D8E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ベクトル制御は測定対象パラメータを必要 → 循環依存</a:t>
            </a:r>
          </a:p>
          <a:p>
            <a:pPr>
              <a:spcAft>
                <a:spcPts val="500"/>
              </a:spcAft>
            </a:pPr>
            <a:r>
              <a:rPr sz="800">
                <a:solidFill>
                  <a:srgbClr val="7B2D8E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V/f 制御はパラメータ不要で動作可能</a:t>
            </a:r>
          </a:p>
          <a:p>
            <a:pPr>
              <a:spcAft>
                <a:spcPts val="500"/>
              </a:spcAft>
            </a:pPr>
            <a:r>
              <a:rPr sz="800">
                <a:solidFill>
                  <a:srgbClr val="7B2D8E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定常データ取得が目的 → 過渡応答不要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926080"/>
          <a:ext cx="484632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301752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装置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モード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インバータ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V/f 制御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f₁ と V（V/f一定、低速ブースト）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ダイナモ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速度制御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nr → すべり s が精密に決定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55555"/>
                </a:solidFill>
                <a:latin typeface="Meiryo"/>
              </a:defRPr>
            </a:pPr>
            <a:r>
              <a:t>定トルク域: V = (f₁/400)×400 V    低速: ブースト加算</a:t>
            </a:r>
          </a:p>
          <a:p>
            <a:pPr>
              <a:spcAft>
                <a:spcPts val="200"/>
              </a:spcAft>
              <a:defRPr sz="1100" b="0">
                <a:solidFill>
                  <a:srgbClr val="555555"/>
                </a:solidFill>
                <a:latin typeface="Meiryo"/>
              </a:defRPr>
            </a:pPr>
            <a:r>
              <a:t>弱め界磁域: V = 400 V（定格一定）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  <a:latin typeface="Meiryo"/>
              </a:defRPr>
            </a:pPr>
            <a:r>
              <a:t>試験マトリクス（約34動作点）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1874519"/>
          <a:ext cx="4206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31520"/>
                <a:gridCol w="640080"/>
                <a:gridCol w="731520"/>
                <a:gridCol w="1097280"/>
                <a:gridCol w="3657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速度域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nr [r/min]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f₁ [Hz]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V [V]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トルク%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点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低速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67+boost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25/50/75/100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低速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中速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25/50/75/100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中速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ベース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333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333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25/50/75/100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ベース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弱め界磁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弱め界磁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25/50/75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高速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高速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25/50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4297680"/>
            <a:ext cx="1124712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BA6"/>
                </a:solidFill>
                <a:latin typeface="Meiryo"/>
              </a:defRPr>
            </a:pPr>
            <a:r>
              <a:t>導出量: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343400"/>
            <a:ext cx="790547" cy="3200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343400"/>
            <a:ext cx="2740537" cy="3200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370832"/>
            <a:ext cx="1249136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A6"/>
                </a:solidFill>
                <a:latin typeface="Meiryo"/>
              </a:defRPr>
            </a:pPr>
            <a:r>
              <a:t>各動作点で測定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00">
                <a:solidFill>
                  <a:srgbClr val="006BA6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V₁, I₁, P₁（パワーアナライザ FFT基本波）</a:t>
            </a:r>
          </a:p>
          <a:p>
            <a:pPr>
              <a:spcAft>
                <a:spcPts val="500"/>
              </a:spcAft>
            </a:pPr>
            <a:r>
              <a:rPr sz="800">
                <a:solidFill>
                  <a:srgbClr val="006BA6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T_shaft（トルクメータ）, nr（エンコーダ）, f₁,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D8E"/>
                </a:solidFill>
                <a:latin typeface="Meiryo"/>
              </a:defRPr>
            </a:pPr>
            <a:r>
              <a:t>負荷試験が提供する情報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212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00">
                <a:solidFill>
                  <a:srgbClr val="7B2D8E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配分比 k の同定 → 次スライドで詳説</a:t>
            </a:r>
          </a:p>
          <a:p>
            <a:pPr>
              <a:spcAft>
                <a:spcPts val="500"/>
              </a:spcAft>
            </a:pPr>
            <a:r>
              <a:rPr sz="800">
                <a:solidFill>
                  <a:srgbClr val="7B2D8E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飽和モデルの実運転条件での検証</a:t>
            </a:r>
          </a:p>
          <a:p>
            <a:pPr>
              <a:spcAft>
                <a:spcPts val="500"/>
              </a:spcAft>
            </a:pPr>
            <a:r>
              <a:rPr sz="800">
                <a:solidFill>
                  <a:srgbClr val="7B2D8E"/>
                </a:solidFill>
                <a:latin typeface="Meiryo"/>
              </a:rPr>
              <a:t>●  </a:t>
            </a:r>
            <a:r>
              <a:rPr sz="1200">
                <a:solidFill>
                  <a:srgbClr val="222222"/>
                </a:solidFill>
                <a:latin typeface="Meiryo"/>
              </a:rPr>
              <a:t>R₂'(fs) の実すべり周波数データ追加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配分比 k の同定 — なぜ負荷試験で k が求まるか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  <a:latin typeface="Meiryo"/>
              </a:defRPr>
            </a:pPr>
            <a:r>
              <a:t>拘束試験では全漏れリアクタンスの合計 X_L = X₁+X₂' のみ判明。k の分離には負荷試験のトルクが必要。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  <a:latin typeface="Meiryo"/>
              </a:defRPr>
            </a:pPr>
            <a:r>
              <a:t>配分比と等価回路インピーダンス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4864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3212495" cy="365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1407381" cy="27432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1779877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  <a:latin typeface="Meiryo"/>
              </a:defRPr>
            </a:pPr>
            <a:r>
              <a:t>二次電流（k を含む形）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11887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011680"/>
            <a:ext cx="2346096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eiryo"/>
              </a:defRPr>
            </a:pPr>
            <a:r>
              <a:t>Z₁, Z₂, Xm(=X₀−kXs) すべて k に依存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11247120" cy="1371600"/>
          </a:xfrm>
          <a:prstGeom prst="roundRect">
            <a:avLst/>
          </a:prstGeom>
          <a:solidFill>
            <a:srgbClr val="FDF0E2"/>
          </a:solidFill>
          <a:ln w="2540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6B08"/>
                </a:solidFill>
                <a:latin typeface="Meiryo"/>
              </a:defRPr>
            </a:pPr>
            <a:r>
              <a:t>電磁トルク（k を含む完全形）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40480"/>
            <a:ext cx="380238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526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  <a:latin typeface="Meiryo"/>
              </a:defRPr>
            </a:pPr>
            <a:r>
              <a:t>R₁, R₂', X_L は既知。Xm = X₀−kX_s は k の従属変数。k が唯一の自由パラメータ。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Meiryo"/>
              </a:defRPr>
            </a:pPr>
            <a:r>
              <a:t>k の値による予測トルクの変化 → 実測トルクと一致する k が一意に決まる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5394960"/>
          <a:ext cx="9601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32004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 の値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Z₁ (一次側)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Z₂ (二次側)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効果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k 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X₁ 大 → 一次電圧降下↑ → Vm↓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X₂' 小 → ロータ側低Z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T_em 変化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k 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X₁ 小 → 一次電圧降下↓ → Vm↑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X₂' 大 → ロータ側高Z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T_em 変化（異なる値）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トルク式: 簡易形 vs 厳密形 — なぜ厳密形が必要か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Meiryo"/>
              </a:defRPr>
            </a:pPr>
            <a:r>
              <a:t>簡易形（教科書でよく見る式）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486400" cy="3200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eiryo"/>
              </a:defRPr>
            </a:pPr>
            <a:r>
              <a:t>励磁枝を無視  (Xm → ∞,  Im = 0,  I₁ = I₂')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V ─┤ r₁+jx₁ ├─┤ r₂/s+jx₂ ├─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                                 ← Xm 枝なし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──────────────────────────────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266934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eiryo"/>
              </a:defRPr>
            </a:pPr>
            <a:r>
              <a:t>分母 = |Z₁ + Z₂|²</a:t>
            </a:r>
            <a:br/>
            <a:r>
              <a:t>→ 全電流がロータを通過すると仮定</a:t>
            </a:r>
            <a:br/>
            <a:r>
              <a:t>→ Xm（励磁インダクタンス）が式に現れない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D8E"/>
                </a:solidFill>
                <a:latin typeface="Meiryo"/>
              </a:defRPr>
            </a:pPr>
            <a:r>
              <a:t>厳密形（本計画で使用）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486400" cy="3200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D8E"/>
                </a:solidFill>
                <a:latin typeface="Meiryo"/>
              </a:defRPr>
            </a:pPr>
            <a:r>
              <a:t>励磁枝あり  (Im ≠ 0,  I₁ = Im + I₂')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V ─┤ R₁+jX₁ ├─●─┤ R₂'/s+jX₂' ├─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                │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              jXm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                │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Consolas"/>
              </a:defRPr>
            </a:pPr>
            <a:r>
              <a:t>────────────────●──────────────────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26080"/>
            <a:ext cx="2927713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D8E"/>
                </a:solidFill>
                <a:latin typeface="Meiryo"/>
              </a:defRPr>
            </a:pPr>
            <a:r>
              <a:t>分母に Xm が陽に含まれる</a:t>
            </a:r>
            <a:br/>
            <a:r>
              <a:t>→ 励磁電流の影響を正しく反映</a:t>
            </a:r>
            <a:br/>
            <a:r>
              <a:t>→ Xm → ∞ とすると左の簡易形に一致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6B08"/>
                </a:solidFill>
                <a:latin typeface="Meiryo"/>
              </a:defRPr>
            </a:pPr>
            <a:r>
              <a:t>パラメータ同定で厳密形が必要な理由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D46B08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Lm 自体を同定しようとしている → Lm の影響を無視する式では同定不可能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46B08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低負荷時（I₂' 小）は励磁電流 Im が相対的に大きく、簡易形の誤差が増大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46B08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k の同定精度にも影響: 簡易形では Xm を介した Z₁・Z₂ の相互作用が消失し、k の感度が低下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Phase F: グローバルパラメータ同定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従来（反復法）vs 本計画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従来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本計画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手法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各試験個別 → 反復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全データ一括最適化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配分比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設計データ仮定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最適化変数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入力データ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無負荷+拘束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同期速度+拘束+負荷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局所的に正確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全運転域で最適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最適化問題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2801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決定変数:  k, R₂'(fs), L₁, L₂'(|I₂'|,fs)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従属変数:  Lm(Im) ← k→X₁→Xm=X₀−X₁ で再計算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固定:  R₁ (Phase A),  Rm(f) (Phase 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Meiryo"/>
              </a:defRPr>
            </a:pPr>
            <a:r>
              <a:t>目的関数: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242241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F46"/>
                </a:solidFill>
                <a:latin typeface="Meiryo"/>
              </a:defRPr>
            </a:pPr>
            <a:r>
              <a:t>信頼性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1B7F46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40〜50動作点 vs 数個〜十数個の変数
→ 十分にオーバーコンストレイント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B7F46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Phase C,D の個別解析結果を初期値に
→ 収束が保証される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B7F46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負荷試験データがX₁/X₂'分離感度を向上
→ k の同定が可能に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A6"/>
                </a:solidFill>
                <a:latin typeface="Meiryo"/>
              </a:defRPr>
            </a:pPr>
            <a:r>
              <a:t>検証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006BA6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ホールドアウト（データの20%を最適化から除外）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006BA6"/>
                </a:solidFill>
                <a:latin typeface="Meiryo"/>
              </a:rPr>
              <a:t>●  </a:t>
            </a:r>
            <a:r>
              <a:rPr sz="1300">
                <a:solidFill>
                  <a:srgbClr val="222222"/>
                </a:solidFill>
                <a:latin typeface="Meiryo"/>
              </a:rPr>
              <a:t>除外データでの予測誤差 5%以内を確認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303520" cy="18288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eiryo"/>
              </a:defRPr>
            </a:pPr>
            <a:r>
              <a:t>予測モデル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入力: V₁, f₁, s（測定値）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等価回路モデル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  → I₁ᵖʳᵉᵈ, T_emᵖʳᵉᵈ, P₁ᵖʳᵉᵈ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Phase C+D+E の全データ (40~50点)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ソルバ: scipy.optimize.least_squares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   or   MATLAB lsqnonlin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飽和参照電流の決定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74720" cy="27432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Lm — 励磁L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08760"/>
            <a:ext cx="30175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BA6"/>
                </a:solidFill>
                <a:latin typeface="Meiryo"/>
              </a:defRPr>
            </a:pPr>
            <a:r>
              <a:t>飽和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主磁束の鉄心飽和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BA6"/>
                </a:solidFill>
                <a:latin typeface="Meiryo"/>
              </a:defRPr>
            </a:pPr>
            <a:r>
              <a:t>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Im ≈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BA6"/>
                </a:solidFill>
                <a:latin typeface="Meiryo"/>
              </a:defRPr>
            </a:pPr>
            <a:r>
              <a:t>LUT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Lm(id) 1D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097280"/>
            <a:ext cx="3474720" cy="27432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F46"/>
                </a:solidFill>
                <a:latin typeface="Meiryo"/>
              </a:defRPr>
            </a:pPr>
            <a:r>
              <a:t>L₁ — 一次漏れL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508760"/>
            <a:ext cx="3017520" cy="36576"/>
          </a:xfrm>
          <a:prstGeom prst="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7F46"/>
                </a:solidFill>
                <a:latin typeface="Meiryo"/>
              </a:defRPr>
            </a:pPr>
            <a:r>
              <a:t>飽和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ステータスロット漏れ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7F46"/>
                </a:solidFill>
                <a:latin typeface="Meiryo"/>
              </a:defRPr>
            </a:pPr>
            <a:r>
              <a:t>参照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|I₁|=√(id²+iq²)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7F46"/>
                </a:solidFill>
                <a:latin typeface="Meiryo"/>
              </a:defRPr>
            </a:pPr>
            <a:r>
              <a:t>LUT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L₁(|I₁|) 1D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097280"/>
            <a:ext cx="3474720" cy="27432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  <a:latin typeface="Meiryo"/>
              </a:defRPr>
            </a:pPr>
            <a:r>
              <a:t>L₂' — 二次漏れL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1508760"/>
            <a:ext cx="3017520" cy="36576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D8E"/>
                </a:solidFill>
                <a:latin typeface="Meiryo"/>
              </a:defRPr>
            </a:pPr>
            <a:r>
              <a:t>飽和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ロータスロット+表皮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D8E"/>
                </a:solidFill>
                <a:latin typeface="Meiryo"/>
              </a:defRPr>
            </a:pPr>
            <a:r>
              <a:t>参照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|I₂'|≈iq, 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D8E"/>
                </a:solidFill>
                <a:latin typeface="Meiryo"/>
              </a:defRPr>
            </a:pPr>
            <a:r>
              <a:t>LUT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Meiryo"/>
              </a:defRPr>
            </a:pPr>
            <a:r>
              <a:t>L₂'(iq,fs) 2D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14800"/>
            <a:ext cx="11247120" cy="6400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160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A6"/>
                </a:solidFill>
                <a:latin typeface="Meiryo"/>
              </a:defRPr>
            </a:pPr>
            <a:r>
              <a:t>制御用テーブル: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34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22222"/>
                </a:solidFill>
                <a:latin typeface="Meiryo"/>
              </a:defRPr>
            </a:pPr>
            <a:r>
              <a:t>入力: id, iq, fs(=ωs/2π)  →  Lm=LUT(|id|)   L₁=LUT(√(id²+iq²))   L₂'=LUT(|iq|,fs)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ロータバー表皮効果 ― R₂'↑ と L₂'↓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F46"/>
                </a:solidFill>
                <a:latin typeface="Meiryo"/>
              </a:defRPr>
            </a:pPr>
            <a:r>
              <a:t>低すべり周波数（数 Hz）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 air gap 側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┌────────┐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│████████│ ← 電流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│████████│ ← 電流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│████████│ ← 電流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│████████│ ← 電流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└────────┘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 slot 底部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電流がバー全断面に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均一分布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→ 実効断面積 大 → R₂' 小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→ スロット全体が漏れ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   磁束に寄与 → L₂' 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高すべり周波数（数十〜数百 Hz）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01168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 air gap 側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┌────────┐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│████████│ ← 集中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│████████│ ← 集中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│░░░░░░░░│ ← 微小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│░░░░░░░░│ ← ≈ 0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└────────┘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Consolas"/>
              </a:defRPr>
            </a:pPr>
            <a:r>
              <a:t>  slot 底部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459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電流がバー上部に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集中（表皮効果）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→ 実効断面積 小 → R₂' 大↑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→ 底部の漏れ磁束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Meiryo"/>
              </a:defRPr>
            </a:pPr>
            <a:r>
              <a:t>   が消失 → L₂' 小↓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4712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メカニズム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深さyでの漏れ磁束 ∝ yより下の電流積分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低周波: 底部にも電流 → 磁束大 → L₂'大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高周波: 底部の電流消失 → 磁束小 → L₂'小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840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浸透深さ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206240"/>
            <a:ext cx="1182346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4251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δ &gt;&gt; h → 均一 → L₂'大, R₂'小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  <a:latin typeface="Meiryo"/>
              </a:defRPr>
            </a:pPr>
            <a:r>
              <a:t>δ &lt;&lt; h → 上部集中 → L₂'小, R₂'大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4114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  <a:latin typeface="Meiryo"/>
              </a:defRPr>
            </a:pPr>
            <a:r>
              <a:t>R₂'↑ と L₂'↓ は同一の物理現象（表皮効果）の表と裏である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周波数依存性と制御用テーブル構造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6B08"/>
                </a:solidFill>
                <a:latin typeface="Meiryo"/>
              </a:defRPr>
            </a:pPr>
            <a:r>
              <a:t>拘束試験の周波数 = すべり周波数 fs（ロータ電流の周波数）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5943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パラメータ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依存周波数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メカニズム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R₂'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fs（すべり）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ロータバー表皮効果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L₂'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fs（すべり）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スロット電流分布変化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f₁（ステータ）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ヒステリシス+渦電流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主磁束飽和で決定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R₁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f₁（通常無視可）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ステータ表皮効果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L₁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通常無視可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近接効果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F46"/>
                </a:solidFill>
                <a:latin typeface="Meiryo"/>
              </a:defRPr>
            </a:pPr>
            <a:r>
              <a:t>制御用テーブル全体構造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4572000" cy="2743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  <a:r>
              <a:t>入力: id, iq, ωs, θ</a:t>
            </a:r>
          </a:p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  <a:r>
              <a:t>Lm  = LUT_1D(|id|)</a:t>
            </a:r>
          </a:p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  <a:r>
              <a:t>L₁  = LUT_1D(√(id²+iq²))</a:t>
            </a:r>
          </a:p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  <a:r>
              <a:t>L₂' = LUT_2D(|iq|, fs)</a:t>
            </a:r>
          </a:p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  <a:r>
              <a:t>R₂' = LUT_2D(fs, θ)</a:t>
            </a:r>
          </a:p>
          <a:p>
            <a:pPr>
              <a:spcAft>
                <a:spcPts val="200"/>
              </a:spcAft>
              <a:defRPr sz="1300" b="0">
                <a:solidFill>
                  <a:srgbClr val="222222"/>
                </a:solidFill>
                <a:latin typeface="Consolas"/>
              </a:defRPr>
            </a:pPr>
            <a:r>
              <a:t>R₁  = R₁dc·(235+θ)/(235+θref)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すべり周波数を使う理由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ロータ電流の周波数 = すべり周波数 fs = s·f₁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表皮効果はロータ電流の周波数で決まる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06BA6"/>
                </a:solidFill>
                <a:latin typeface="Meiryo"/>
              </a:rPr>
              <a:t>●  </a:t>
            </a:r>
            <a:r>
              <a:rPr sz="1400">
                <a:solidFill>
                  <a:srgbClr val="222222"/>
                </a:solidFill>
                <a:latin typeface="Meiryo"/>
              </a:rPr>
              <a:t>すべり周波数型ベクトル制御では ωs = ω₁−ωr を制御器が直接保持 → LUTインデックスに利用可能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設備 / 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主要設備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9436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46888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設備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仕様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インバータ電源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0〜1200Hz, 300kVA+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モータ駆動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出力リアクトル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定格電流適合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電流リプル低減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ダイナモメータ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150kW+, 18000rpm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同期速度・負荷試験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トルクメータ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0.1%級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軸トルク直接測定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エンコーダ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高分解能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実回転数測定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パワーアナライザ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0.1%級, FFT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V₁,I₁,P₁測定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Python/MATLAB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scipy / lsqnonlin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グローバル同定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A6"/>
                </a:solidFill>
                <a:latin typeface="Meiryo"/>
              </a:defRPr>
            </a:pPr>
            <a:r>
              <a:t>スケジュール概要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630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BA6"/>
                </a:solidFill>
                <a:latin typeface="Meiryo"/>
              </a:defRPr>
            </a:pPr>
            <a:r>
              <a:t>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00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設備手配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719072"/>
            <a:ext cx="502920" cy="164592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385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治具・接続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956816"/>
            <a:ext cx="301752" cy="164592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1762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校正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08592" y="2194560"/>
            <a:ext cx="301752" cy="164592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BA6"/>
                </a:solidFill>
                <a:latin typeface="Meiryo"/>
              </a:defRPr>
            </a:pPr>
            <a:r>
              <a:t>測定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51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A: DC抵抗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0344" y="2670048"/>
            <a:ext cx="100584" cy="164592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8895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B: 機械損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2907792"/>
            <a:ext cx="100584" cy="164592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1272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C: 同期速度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3145536"/>
            <a:ext cx="402336" cy="164592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364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D: 拘束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13848" y="3383280"/>
            <a:ext cx="402336" cy="164592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602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E: 負荷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16184" y="3621024"/>
            <a:ext cx="402336" cy="164592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840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温度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18520" y="3858768"/>
            <a:ext cx="201168" cy="164592"/>
          </a:xfrm>
          <a:prstGeom prst="roundRect">
            <a:avLst/>
          </a:prstGeom>
          <a:solidFill>
            <a:srgbClr val="1B7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078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BA6"/>
                </a:solidFill>
                <a:latin typeface="Meiryo"/>
              </a:defRPr>
            </a:pPr>
            <a:r>
              <a:t>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3159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整理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19688" y="4334256"/>
            <a:ext cx="201168" cy="164592"/>
          </a:xfrm>
          <a:prstGeom prst="round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5537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F: 同定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20856" y="4572000"/>
            <a:ext cx="402336" cy="164592"/>
          </a:xfrm>
          <a:prstGeom prst="round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7914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LUT構築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23192" y="4809744"/>
            <a:ext cx="201168" cy="164592"/>
          </a:xfrm>
          <a:prstGeom prst="round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検証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047488"/>
            <a:ext cx="201168" cy="164592"/>
          </a:xfrm>
          <a:prstGeom prst="round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2669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BA6"/>
                </a:solidFill>
                <a:latin typeface="Meiryo"/>
              </a:defRPr>
            </a:pPr>
            <a:r>
              <a:t>報告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5046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報告書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225528" y="5522975"/>
            <a:ext cx="301752" cy="16459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574243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eiryo"/>
              </a:defRPr>
            </a:pPr>
            <a:r>
              <a:t>レビュー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27280" y="5760719"/>
            <a:ext cx="201168" cy="16459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6071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Meiryo"/>
              </a:defRPr>
            </a:pPr>
            <a:r>
              <a:t>準備3/27 → 測定4/12 → 同定4/22 → 完了4/29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22222"/>
                </a:solidFill>
                <a:latin typeface="Meiryo"/>
              </a:defRPr>
            </a:pPr>
            <a:r>
              <a:t>リスクと対策 / 成果物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Meiryo"/>
              </a:defRPr>
            </a:pPr>
            <a:r>
              <a:t>リスクと対策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9436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リスク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対策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インバータ容量不足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事前にインピーダンスから必要kVA算出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拘束試験の過熱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1点30秒以内、温度常時監視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低周波試験の精度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高分解能計測器、複数回平均化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PWM高調波の誤差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リアクトル+FFT基本波のみ使用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同期速度の維持精度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高精度サーボ制御、エンコーダ確認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グローバル最適化の非収束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Phase C,D個別解析で妥当な初期値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負荷試験の運転点不足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最低30動作点を確保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F46"/>
                </a:solidFill>
                <a:latin typeface="Meiryo"/>
              </a:defRPr>
            </a:pPr>
            <a:r>
              <a:t>主要成果物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371600"/>
          <a:ext cx="502920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形式</a:t>
                      </a:r>
                    </a:p>
                  </a:txBody>
                  <a:tcPr>
                    <a:solidFill>
                      <a:srgbClr val="006BA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測定生データ（全Phase）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CSV/Excel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機械損特性 T_friction(ω)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テーブル+グラフ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飽和特性 Lm(Im)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テーブル+グラフ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漏れL特性 L₁,L₂'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テーブル+グラフ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配分比 k 同定結果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レポート+信頼区間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制御用パラメータセット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d-q飽和+周波数LUT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グローバル同定プログラム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Python/MATLAB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最終報告書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926080"/>
            <a:ext cx="6675120" cy="365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2222"/>
                </a:solidFill>
                <a:latin typeface="Meiryo"/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